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23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6.jp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65633" y="2621309"/>
            <a:ext cx="586073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LinkSwift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05175" y="3650009"/>
            <a:ext cx="55816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Building a High-Performance, Global URL Shortener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455350" y="4703100"/>
            <a:ext cx="44655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Name : Amar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Registration ID:12412085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Roll No. : 07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8558"/>
            <a:ext cx="5286375" cy="3367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78558"/>
            <a:ext cx="5286375" cy="3367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669083"/>
            <a:ext cx="450532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3307258"/>
            <a:ext cx="473059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Need for Speed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4040683"/>
            <a:ext cx="45053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Users expect redirects to be **instant**. Any delay (latency) feels broken and loses trust. This is our #1 priority.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3307258"/>
            <a:ext cx="473059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Need for Data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4040683"/>
            <a:ext cx="45053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Marketers need **deep analytics**: Who clicked? Where? When? This data is complex, slow, and hard to calculate.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688133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Core Challenge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0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1652587"/>
            <a:ext cx="55245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818CF8"/>
                </a:solidFill>
                <a:latin typeface="Poppins"/>
                <a:ea typeface="Poppins"/>
                <a:cs typeface="Poppins"/>
                <a:sym typeface="Poppins"/>
              </a:rPr>
              <a:t>99.99%</a:t>
            </a:r>
            <a:endParaRPr sz="100"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3176587"/>
            <a:ext cx="5524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Availability (Reliability)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428750" y="3643312"/>
            <a:ext cx="381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service can only be down for 52 minutes *per year*. It must always work, even if parts of it fail.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572250" y="1652587"/>
            <a:ext cx="50484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818CF8"/>
                </a:solidFill>
                <a:latin typeface="Poppins"/>
                <a:ea typeface="Poppins"/>
                <a:cs typeface="Poppins"/>
                <a:sym typeface="Poppins"/>
              </a:rPr>
              <a:t>&lt; </a:t>
            </a:r>
            <a:endParaRPr b="1" i="0" sz="12000" u="none" cap="none" strike="noStrike">
              <a:solidFill>
                <a:srgbClr val="818C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818CF8"/>
                </a:solidFill>
                <a:latin typeface="Poppins"/>
                <a:ea typeface="Poppins"/>
                <a:cs typeface="Poppins"/>
                <a:sym typeface="Poppins"/>
              </a:rPr>
              <a:t>50ms</a:t>
            </a:r>
            <a:endParaRPr sz="100"/>
          </a:p>
        </p:txBody>
      </p:sp>
      <p:sp>
        <p:nvSpPr>
          <p:cNvPr id="111" name="Google Shape;111;p15"/>
          <p:cNvSpPr txBox="1"/>
          <p:nvPr/>
        </p:nvSpPr>
        <p:spPr>
          <a:xfrm>
            <a:off x="6572325" y="5048562"/>
            <a:ext cx="5048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p95 Latency (Speed)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191375" y="5616787"/>
            <a:ext cx="381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95% of all clicks must redirect in under 50 milliseconds (faster than a blink of an eye), anywhere in the world.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Our Quality Targets (The "SLOs")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81150"/>
            <a:ext cx="10668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32385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Solution: A Decoupled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9394"/>
            <a:ext cx="3429000" cy="3326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99394"/>
            <a:ext cx="3429000" cy="3326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299394"/>
            <a:ext cx="3429000" cy="332601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1265872" y="3347144"/>
            <a:ext cx="20402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B5FD"/>
                </a:solidFill>
                <a:latin typeface="Poppins"/>
                <a:ea typeface="Poppins"/>
                <a:cs typeface="Poppins"/>
                <a:sym typeface="Poppins"/>
              </a:rPr>
              <a:t>L1 Cache: CDN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66775" y="4061519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**"Local Store"** closest to the user. We store popular links here for the fastest possible access (sub-10ms).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4975860" y="3347144"/>
            <a:ext cx="22402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B5FD"/>
                </a:solidFill>
                <a:latin typeface="Poppins"/>
                <a:ea typeface="Poppins"/>
                <a:cs typeface="Poppins"/>
                <a:sym typeface="Poppins"/>
              </a:rPr>
              <a:t>L2 Cache: Redis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4676775" y="4061519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**"Regional Warehouse."** If the local store is out, we check here. It's still very fast and protects our main factory.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650843" y="3347144"/>
            <a:ext cx="2510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B5FD"/>
                </a:solidFill>
                <a:latin typeface="Poppins"/>
                <a:ea typeface="Poppins"/>
                <a:cs typeface="Poppins"/>
                <a:sym typeface="Poppins"/>
              </a:rPr>
              <a:t>L3: The Database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486775" y="4061519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**"Main Factory."** This is the source of truth, but it's slow. We only come here if a link is brand new or very unpopular (&lt;1% of traffic).</a:t>
            </a:r>
            <a:endParaRPr/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5012" y="2613719"/>
            <a:ext cx="5619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437" y="2613719"/>
            <a:ext cx="6191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5012" y="2613719"/>
            <a:ext cx="56197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"Hot Path": How We Get &lt; 50ms Speed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571500" y="1819275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C4B5FD"/>
                </a:solidFill>
                <a:latin typeface="Poppins"/>
                <a:ea typeface="Poppins"/>
                <a:cs typeface="Poppins"/>
                <a:sym typeface="Poppins"/>
              </a:rPr>
              <a:t>Strong Consistency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2466975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When a marketer creates a link, it *must* work instantly, everywhere. We can't have a user click it 10 seconds later and get a "not found" error.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5396507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makes the link **instantly available worldwide**.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904875" y="368200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 ID is generated that is guaranteed to be unique.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904875" y="412968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use a special **Global Database** (DynamoDB).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04875" y="457735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database automatically copies the new link to all regions (USA, Europe, Asia) *before* it tells the marketer "Success!"</a:t>
            </a:r>
            <a:endParaRPr/>
          </a:p>
        </p:txBody>
      </p:sp>
      <p:pic>
        <p:nvPicPr>
          <p:cNvPr id="150" name="Google Shape;150;p18"/>
          <p:cNvPicPr preferRelativeResize="0"/>
          <p:nvPr/>
        </p:nvPicPr>
        <p:blipFill rotWithShape="1">
          <a:blip r:embed="rId4">
            <a:alphaModFix/>
          </a:blip>
          <a:srcRect b="14645" l="0" r="0" t="14638"/>
          <a:stretch/>
        </p:blipFill>
        <p:spPr>
          <a:xfrm>
            <a:off x="6319625" y="1993250"/>
            <a:ext cx="5286374" cy="373842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"Reliable Path": Creating a Link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2963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7730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62498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0978"/>
            <a:ext cx="5286375" cy="3702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10978"/>
            <a:ext cx="5286375" cy="370284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962025" y="3139678"/>
            <a:ext cx="473059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Eventual Consistency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62025" y="3873103"/>
            <a:ext cx="45053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Analytics is **slow and complex** (GeoIP lookup, cleaning, aggregation). If we did this during the redirect, the user would be stuck waiting, failing our speed goal.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724650" y="3139678"/>
            <a:ext cx="473059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Smart Trade-Off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724650" y="3873103"/>
            <a:ext cx="45053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use **Eventual Consistency**. It’s acceptable if stats are a few minutes late, as long as the user's redirect is fast. This saves our **&lt;50ms SLO**.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5205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52055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"Analytics Path": Smart &amp; Patient Data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488156" y="4371826"/>
            <a:ext cx="35004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Digital Order Screen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381500" y="2453878"/>
            <a:ext cx="7239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**Read Service** is the Waiter. Their job is speed: deliver the redirect to the user.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381500" y="3413819"/>
            <a:ext cx="7239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**Analytics Service** is the Cook. Their job is complex: process the click (payment).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381500" y="4373760"/>
            <a:ext cx="7239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**Kafka Queue** is the order screen. The Waiter taps the order in and *immediately* runs away. The Cook handles it when they can. The Waiter never waits for the Cook!</a:t>
            </a:r>
            <a:endParaRPr/>
          </a:p>
        </p:txBody>
      </p:sp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0212" y="2600176"/>
            <a:ext cx="10763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Secret: The "Restaurant Order" (Kafka)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2175"/>
            <a:ext cx="3429000" cy="3600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62175"/>
            <a:ext cx="3429000" cy="3600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62175"/>
            <a:ext cx="3429000" cy="360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795813" y="3209925"/>
            <a:ext cx="298037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B5FD"/>
                </a:solidFill>
                <a:latin typeface="Poppins"/>
                <a:ea typeface="Poppins"/>
                <a:cs typeface="Poppins"/>
                <a:sym typeface="Poppins"/>
              </a:rPr>
              <a:t>Active-Active Failover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866775" y="4324350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If the *entire* USA region goes offline, Anycast DNS automatically reroutes all traffic to Europe. No one notices.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990861" y="3209925"/>
            <a:ext cx="221027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B5FD"/>
                </a:solidFill>
                <a:latin typeface="Poppins"/>
                <a:ea typeface="Poppins"/>
                <a:cs typeface="Poppins"/>
                <a:sym typeface="Poppins"/>
              </a:rPr>
              <a:t>Circuit Breaker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676775" y="392430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If the analytics (Cook) is overwhelmed, the **Circuit Breaker** flips, and we *stop* sending click events. The redirect (Waiter) keeps working. This protects our 99.99% availability.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935878" y="3209925"/>
            <a:ext cx="194024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B5FD"/>
                </a:solidFill>
                <a:latin typeface="Poppins"/>
                <a:ea typeface="Poppins"/>
                <a:cs typeface="Poppins"/>
                <a:sym typeface="Poppins"/>
              </a:rPr>
              <a:t>Rate Limiting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486775" y="392430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put a speed bump on the road. We only allow a certain number of requests per second from a single IP to protect the whole system from DDoS attacks.</a:t>
            </a:r>
            <a:endParaRPr/>
          </a:p>
        </p:txBody>
      </p:sp>
      <p:pic>
        <p:nvPicPr>
          <p:cNvPr descr="image.png" id="194" name="Google Shape;19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8350" y="247650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48837" y="2476500"/>
            <a:ext cx="31432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How We Survive Failure (Resiliency)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1504950" y="3112740"/>
            <a:ext cx="9182100" cy="2080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We deliberately trade **Analytics Freshness**...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9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 ...to guarantee **User Speed**.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3948112" y="5478660"/>
            <a:ext cx="4295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— The Core Design Principle of LinkSwift —</a:t>
            </a:r>
            <a:endParaRPr/>
          </a:p>
        </p:txBody>
      </p:sp>
      <p:pic>
        <p:nvPicPr>
          <p:cNvPr descr="image.png" id="204" name="Google Shape;2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8812" y="2188815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933450" y="3588990"/>
            <a:ext cx="771525" cy="215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818CF8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The Core Trade-Off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295275" y="2301180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571500" y="386328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